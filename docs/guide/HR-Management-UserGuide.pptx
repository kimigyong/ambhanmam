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맑은 고딕"/>
              </a:defRPr>
            </a:pPr>
            <a:r>
              <a:t>AMB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맑은 고딕"/>
              </a:defRPr>
            </a:pPr>
            <a:r>
              <a:t>인사관리(HR) 시스템 사용자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82F6"/>
                </a:solidFill>
                <a:latin typeface="맑은 고딕"/>
              </a:defRPr>
            </a:pPr>
            <a:r>
              <a:t>다국가(베트남/한국) 통합 인사 · 급여 · 근태 관리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114800"/>
            <a:ext cx="178308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882F6"/>
                </a:solidFill>
                <a:latin typeface="맑은 고딕"/>
              </a:defRPr>
            </a:pPr>
            <a:r>
              <a:t>직원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직원/프리랜서</a:t>
            </a:r>
            <a:br/>
            <a:r>
              <a:t>인적사항 · 급여이력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77440" y="4114800"/>
            <a:ext cx="17830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맑은 고딕"/>
              </a:defRPr>
            </a:pPr>
            <a:r>
              <a:t>근태 · 초과근무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월간 근태 입력</a:t>
            </a:r>
            <a:br/>
            <a:r>
              <a:t>OT 등록 · 승인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4114800"/>
            <a:ext cx="17830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8B5CF6"/>
                </a:solidFill>
                <a:latin typeface="맑은 고딕"/>
              </a:defRPr>
            </a:pPr>
            <a:r>
              <a:t>급여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VN/KR 자동 계산</a:t>
            </a:r>
            <a:br/>
            <a:r>
              <a:t>7단계 승인 워크플로우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114800"/>
            <a:ext cx="17830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맑은 고딕"/>
              </a:defRPr>
            </a:pPr>
            <a:r>
              <a:t>보고서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급여명세서 · 급여대장</a:t>
            </a:r>
            <a:br/>
            <a:r>
              <a:t>보험내역서 · 세무 자료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4114800"/>
            <a:ext cx="17830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맑은 고딕"/>
              </a:defRPr>
            </a:pPr>
            <a:r>
              <a:t>연차 · 퇴직금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연차 부여/사용/이월</a:t>
            </a:r>
            <a:br/>
            <a:r>
              <a:t>퇴직금 시뮬레이션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0" y="4114800"/>
            <a:ext cx="178308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0" y="4114800"/>
            <a:ext cx="17830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60" y="4206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7316"/>
                </a:solidFill>
                <a:latin typeface="맑은 고딕"/>
              </a:defRPr>
            </a:pPr>
            <a:r>
              <a:t>HR 설정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45720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공휴일 · 보험요율</a:t>
            </a:r>
            <a:br/>
            <a:r>
              <a:t>세금 구간 · 간이세액표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맑은 고딕"/>
              </a:defRPr>
            </a:pPr>
            <a:r>
              <a:t>v1.0  |  2026-02-18  |  3개 국어 지원 (한국어/영어/베트남어)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시스템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HR 모듈 기능 맵, 다국가 통합 관리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시작하기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463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법인 선택, 메뉴 네비게이션, 화면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직원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20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직원 등록/조회/수정, 급여이력, 부양가족, KR 확장정보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77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근태 관리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377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달력형 근태 입력, 출석 코드, 월간 요약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34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초과근무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834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OT 등록, 5가지 유형, 승인 프로세스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91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91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연차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91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연차 부여/사용/이월/OT전환, 잔여일수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749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급여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49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7단계 승인 워크플로우, VN/KR 급여 계산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06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급여 계산 이해하기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VN: GROSS/NET + PIT, KR: 4대보험 + 간이세액표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63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6634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보고서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VN/KR 보고서 10종, PDF/Excel 다운로드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206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1206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프리랜서 &amp; 사업소득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프리랜서 관리, 사업소득 지급, 연말정산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77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HR 설정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0" y="5577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공휴일, 보험요율, 세금 구간, 간이세액표 관리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60350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6035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권한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40" y="6035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맑은 고딕"/>
              </a:defRPr>
            </a:pPr>
            <a:r>
              <a:t>Admin/Manager/Entity 역할별 접근 범위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01  시스템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베트남(VN)과 한국(KR) 법인의 인사·급여·근태를 하나의 시스템에서 통합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직원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 등록/수정/삭제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부양가족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이력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한국 직원 확장정보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37160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54864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프리랜서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프리랜서 등록/수정/삭제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사업소득 지급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세율 설정 (기본 3%)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54864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법인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생성/수정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사용자 역할 배정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도장 이미지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근태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달력형 월간 근태 입력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10가지 출석 코드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근무시간 자동 집계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06324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063240"/>
            <a:ext cx="54864" cy="15087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초과근무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OT 등록/수정/삭제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5가지 OT 유형 (150~300%)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관리자 승인 프로세스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06324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063240"/>
            <a:ext cx="54864" cy="15087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154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연차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474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연차 부여/사용/이월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OT 전환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자동 잔여 계산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754880"/>
            <a:ext cx="54864" cy="1508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46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급여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166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VN GROSS/NET 계산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KR 4대보험·간이세액표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7단계 승인 워크플로우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475488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97680" y="4754880"/>
            <a:ext cx="54864" cy="15087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846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보고서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166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급여명세서 (PDF)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급여대장/보험내역 (Excel)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VN 5종 + KR 5종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754880"/>
            <a:ext cx="3566160" cy="15087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754880"/>
            <a:ext cx="54864" cy="1508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4846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HR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5166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공휴일 달력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보험요율/세금 구간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간이세액표 CSV 임포트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02  시작하기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4114800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54864" cy="22860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① 법인(Entity)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38404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HR 모듈 진입 시 먼저 법인을 선택합니다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좌측 사이드바 상단의 Entity Selector 클릭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본인에게 할당된 법인 목록이 표시됩니다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법인별로 직원·급여·설정이 완전히 분리됩니다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미선택 시 '엔티티를 선택하세요' 안내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822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② 좌측 사이드바 메뉴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54864" cy="347472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188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맑은 고딕"/>
              </a:defRPr>
            </a:pPr>
            <a:r>
              <a:t>직원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/hr/employees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188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직원 목록·상세·등록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627632"/>
            <a:ext cx="54864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6276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프리랜서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/hr/freelancers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627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프리랜서 관리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066544"/>
            <a:ext cx="54864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0665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t>근태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66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/hr/timesheet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0665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월간 근태 입력 그리드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505456"/>
            <a:ext cx="54864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5054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맑은 고딕"/>
              </a:defRPr>
            </a:pPr>
            <a:r>
              <a:t>초과근무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0545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/hr/overtime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5054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OT 등록·승인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944368"/>
            <a:ext cx="54864" cy="34747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9443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맑은 고딕"/>
              </a:defRPr>
            </a:pPr>
            <a:r>
              <a:t>연차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9443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/hr/leave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944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연차 현황 테이블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383280"/>
            <a:ext cx="54864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33832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맑은 고딕"/>
              </a:defRPr>
            </a:pPr>
            <a:r>
              <a:t>급여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3832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/hr/payroll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급여기간·처리·승인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822192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822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퇴직금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8221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/hr/severance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38221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퇴직금 시뮬레이션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261104"/>
            <a:ext cx="54864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26110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사업소득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6110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/hr/business-income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2611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프리랜서 지급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4700016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470001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맑은 고딕"/>
              </a:defRPr>
            </a:pPr>
            <a:r>
              <a:t>연말정산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000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/hr/yearend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7000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KR 연말정산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5138928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0" y="51389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보고서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3892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1389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PDF/Excel 다운로드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5577840"/>
            <a:ext cx="54864" cy="34747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5577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66F1"/>
                </a:solidFill>
                <a:latin typeface="맑은 고딕"/>
              </a:defRPr>
            </a:pPr>
            <a:r>
              <a:t>설정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577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Courier New"/>
              </a:defRPr>
            </a:pPr>
            <a:r>
              <a:t>/hr/settings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맑은 고딕"/>
              </a:defRPr>
            </a:pPr>
            <a:r>
              <a:t>공휴일·요율·세금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474720"/>
            <a:ext cx="411480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5661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③ 다국어 지원 (3개 국어)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388620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한국어 (ko) · 영어 (en) · 베트남어 (vi)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모든 UI 텍스트가 선택된 언어로 표시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브라우저 설정 또는 언어 전환 버튼으로 변경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백엔드 에러 메시지는 영어 (프론트에서 번역)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394960"/>
            <a:ext cx="4114800" cy="11887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7200" y="5394960"/>
            <a:ext cx="54864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4864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④ 법인별 국가 구분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58064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VN 법인: 베트남 급여·보험·PIT 계산 적용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KR 법인: 한국 4대보험·간이세액표 적용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국가에 따라 급여 상세 화면이 자동 전환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03  직원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직원의 인적사항, 급여이력, 부양가족, 한국 확장정보를 탭 형태로 관리합니다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16459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16459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직원 목록 화면 (EmployeeListPage)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검색: 직원명, 직원코드로 검색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필터: 부서, 상태(재직/수습/퇴사 등)별 필터링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정렬: 컬럼 헤더 클릭으로 정렬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'+ 직원 등록' 버튼으로 신규 직원 등록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행 클릭 → 직원 상세 화면으로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직원 상태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1554480"/>
          <a:ext cx="50292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103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코드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재직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OFFICIAL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정규 근무 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수습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PROBATION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수습 기간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육아휴직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PARENTAL_LEAVE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육아휴직 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TEMPORARY_LEAVE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임시 휴직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퇴직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RESIGNED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퇴직 완료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직원 상세 화면 — 4개 탭 구성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27432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54864" cy="292608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기본정보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77640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직원코드, 이름, 국적, CCCD 번호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세금코드, 사회보험번호, 병원코드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입사일, 퇴사일, 부서, 직책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지역 (VN: REGION_1~4)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급여유형 (GROSS/NET), 근무형태 (주5/6일)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인적사항 &amp; 근무정보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566160"/>
            <a:ext cx="27432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356616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급여이력 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977640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기본급 (VND/KRW/USD)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식사비, CSKH 수당, 유류비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주차비, 기타 수당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환율 (KRW, USD)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적용일 기준 이력 누적 관리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886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급여 변경 이력 관리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66160"/>
            <a:ext cx="27432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66160"/>
            <a:ext cx="54864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부양가족 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77640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부양가족명, 관계, 생년월일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CCCD 번호, 세금코드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유효기간 (시작일~종료일)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1인당 4,400,000 VND/월 공제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등록/수정/삭제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886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VN PIT 공제용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3566160"/>
            <a:ext cx="27432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3566160"/>
            <a:ext cx="54864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657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KR 정보 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977640"/>
            <a:ext cx="24688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주민등록번호 (암호화 저장)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직원유형 (정규/계약/일용/대표/인턴)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4대보험 번호 (연금/건강/고용)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보험 면제 설정 (연금/건강/고용)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피부양자 수, 원천징수율 (80/100/120%)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886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한국 법인 전용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04  근태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달력형 그리드에서 전체 직원의 월간 근태를 한 화면에서 입력·관리합니다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6858000" cy="3200400"/>
          </a:xfrm>
          <a:prstGeom prst="rect">
            <a:avLst/>
          </a:prstGeom>
          <a:solidFill>
            <a:srgbClr val="27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68580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TimesheetPage — 달력형 근태 입력 화면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┌──────────────────────────────────────────────────────────┐</a:t>
            </a:r>
            <a:br/>
            <a:r>
              <a:t>│  [◀ 2026년 02월 ▶]                         [일괄 저장]  │</a:t>
            </a:r>
            <a:br/>
            <a:r>
              <a:t>├──────┬────┬────┬────┬────┬────┬──── ···  ─┬────┬───────┤</a:t>
            </a:r>
            <a:br/>
            <a:r>
              <a:t>│ 직원  │ 1일 │ 2일 │ 3일 │ 4일 │ 5일 │ ···    │28일│ 합계  │</a:t>
            </a:r>
            <a:br/>
            <a:r>
              <a:t>├──────┼────┼────┼────┼────┼────┼──── ···  ─┼────┼───────┤</a:t>
            </a:r>
            <a:br/>
            <a:r>
              <a:t>│ 홍길동 │ 8  │ 8  │ RE │ RE │ 8  │          │ 8  │ 20일  │</a:t>
            </a:r>
            <a:br/>
            <a:r>
              <a:t>│ 김철수 │ 8  │ 4  │ RE │ RE │ AL │          │ 8  │ 18.5일│</a:t>
            </a:r>
            <a:br/>
            <a:r>
              <a:t>│ 이영희 │ 8  │ 8  │ RE │ RE │ 8  │          │ SL │ 19일  │</a:t>
            </a:r>
            <a:br/>
            <a:r>
              <a:t>└──────┴────┴────┴────┴────┴────┴──── ···  ─┴────┴───────┘</a:t>
            </a:r>
            <a:br/>
            <a:br/>
            <a:r>
              <a:t>  셀 클릭 → 출석코드 드롭다운 표시 → 코드 선택 → 자동 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188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출석 코드 안내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554480"/>
          <a:ext cx="41148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286000"/>
                <a:gridCol w="11887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코드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의미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근무시간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전일 근무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반일 근무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연차 (Annual Leave)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유급휴가 (Paid Leave)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무급휴가 (Unpaid Leave)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공휴일 (Holiday)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휴무일 (Rest Day)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출산휴가 (Maternity)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SL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병가 (Sick Leave)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결근 (Absent)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0시간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754880"/>
            <a:ext cx="4572000" cy="1828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754880"/>
            <a:ext cx="54864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월간 근태 요약 (TimesheetSummary)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66360"/>
            <a:ext cx="4297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총 근무일수: 8코드 + 4코드(0.5일) 합산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총 휴가일수: AL + PL + M + SL 합산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총 부재일수: UP + AB 합산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일괄 저장: 변경된 셀만 한번에 서버 저장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계산 시 이 데이터가 자동 반영됩니다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4754880"/>
            <a:ext cx="6400800" cy="1828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475488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484632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사용 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166360"/>
            <a:ext cx="6126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연/월 선택 후 해당 월의 근태 그리드가 자동 로드됩니다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공휴일(H)과 휴무일(RE)은 설정 → 공휴일 달력에서 자동 반영됩니다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근태 입력 후 반드시 '일괄 저장' 버튼을 눌러야 저장됩니다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급여기간 생성 후 계산 전에 근태 데이터를 먼저 완성하세요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MON_FRI 직원: 토/일 자동 RE, MON_SAT 직원: 일요일만 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05  초과근무(OT)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초과근무를 등록하고, 관리자 승인을 거쳐 급여에 자동 반영합니다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OT 유형 및 수당 배수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68580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286000"/>
                <a:gridCol w="731520"/>
                <a:gridCol w="265176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코드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배수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예시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평일 초과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WEEKDAY_150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평일 18시 이후 근무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평일 야간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WEEKDAY_NIGHT_200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평일 22시~06시 근무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주말 초과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WEEKEND_200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토/일요일 근무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주말 야간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WEEKEND_NIGHT_210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210%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주말 22시~06시 근무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공휴일 초과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HOLIDAY_300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300%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공휴일 근무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OT 처리 프로세스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749039"/>
            <a:ext cx="210312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82F6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5876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OT 등록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062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직원/관리자가 OT 기록 생성</a:t>
            </a:r>
            <a:br/>
            <a:r>
              <a:t>날짜, 시작·종료시간, OT유형,</a:t>
            </a:r>
            <a:br/>
            <a:r>
              <a:t>업무 설명 입력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749039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3749039"/>
            <a:ext cx="2103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85876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대기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2062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PENDING 상태로 저장</a:t>
            </a:r>
            <a:br/>
            <a:r>
              <a:t>관리자의 승인을 대기</a:t>
            </a:r>
            <a:br/>
            <a:r>
              <a:t>수정/삭제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3749039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3749039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5876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관리자 승인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42062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Manager가 검토 후</a:t>
            </a:r>
            <a:br/>
            <a:r>
              <a:t>APPROVED 또는 REJECTED</a:t>
            </a:r>
            <a:br/>
            <a:r>
              <a:t>반려 시 사유 기재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749039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0" y="3749039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85876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변환시간 계산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42062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실제시간 × OT배수</a:t>
            </a:r>
            <a:br/>
            <a:r>
              <a:t>= 변환시간</a:t>
            </a:r>
            <a:br/>
            <a:r>
              <a:t>예: 2h × 150% = 3h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0" y="3749039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0" y="3749039"/>
            <a:ext cx="21031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38404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858767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급여 반영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4206239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승인된 OT만 급여에 반영</a:t>
            </a:r>
            <a:br/>
            <a:r>
              <a:t>OT수당 = 변환시간 × 시급</a:t>
            </a:r>
            <a:br/>
            <a:r>
              <a:t>자동 계산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5486400" cy="1463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120640"/>
            <a:ext cx="54864" cy="14630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OT 등록 시 입력 항목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3212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 선택 (검색 가능)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초과근무일 (날짜 선택)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시작시간 / 종료시간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OT 유형 선택 (5가지 중 택 1)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프로젝트/업무 설명 (선택)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120640"/>
            <a:ext cx="5486400" cy="14630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12064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OT 변환시간 계산 예시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532120"/>
            <a:ext cx="5212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평일 18:00~20:00 (2시간) → WEEKDAY_150 → 2 × 1.5 = 3.0h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주말 09:00~14:00 (5시간) → WEEKEND_200 → 5 × 2.0 = 10.0h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공휴일 09:00~13:00 (4시간) → HOLIDAY_300 → 4 × 3.0 = 12.0h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변환시간이 급여 OT수당 계산에 사용됩니다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06  연차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직원별 연차 부여, 사용, 이월, OT 전환 현황을 한눈에 확인합니다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00" cy="2286000"/>
          </a:xfrm>
          <a:prstGeom prst="rect">
            <a:avLst/>
          </a:prstGeom>
          <a:solidFill>
            <a:srgbClr val="273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7315200" cy="457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LeavePage — 연차 현황 테이블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Courier New"/>
              </a:defRPr>
            </a:pPr>
            <a:r>
              <a:t>┌──────┬──────┬──────┬──────┬──────┬──────┬──────┐</a:t>
            </a:r>
            <a:br/>
            <a:r>
              <a:t>│ 직원  │ 부여  │ 이월  │ 사용  │OT전환 │ 잔여  │ 상세  │</a:t>
            </a:r>
            <a:br/>
            <a:r>
              <a:t>├──────┼──────┼──────┼──────┼──────┼──────┼──────┤</a:t>
            </a:r>
            <a:br/>
            <a:r>
              <a:t>│ 홍길동 │ 12.0 │  2.0 │  5.0 │  1.0 │  8.0 │ [보기]│</a:t>
            </a:r>
            <a:br/>
            <a:r>
              <a:t>│ 김철수 │ 15.0 │  0.0 │  8.0 │  0.0 │  7.0 │ [보기]│</a:t>
            </a:r>
            <a:br/>
            <a:r>
              <a:t>│ 이영희 │ 12.0 │  3.0 │ 10.0 │  2.0 │  3.0 │ [보기]│</a:t>
            </a:r>
            <a:br/>
            <a:r>
              <a:t>└──────┴──────┴──────┴──────┴──────┴──────┴──────┘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280160"/>
            <a:ext cx="3657600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54864" cy="2286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연차 잔여일수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691640"/>
            <a:ext cx="33832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잔여 = 부여 + 이월 - 사용 - OT전환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부여: 근속년수 기반 (연초 부여)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이월: 전년도 미사용 연차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사용: 근태에서 AL코드 입력 시 자동 차감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OT전환: 연차를 OT로 전환한 일수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연차 관리 프로세스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97680"/>
            <a:ext cx="2103120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82F6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07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연초 부여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54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근속년수 기반 연차 부여</a:t>
            </a:r>
            <a:br/>
            <a:r>
              <a:t>+ 전년도 이월일수 반영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297680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4297680"/>
            <a:ext cx="21031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07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사용 추적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4754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근태에서 AL 코드 입력 시</a:t>
            </a:r>
            <a:br/>
            <a:r>
              <a:t>자동으로 사용일수 증가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297680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4297680"/>
            <a:ext cx="21031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407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OT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754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연차 → OT 전환 시</a:t>
            </a:r>
            <a:br/>
            <a:r>
              <a:t>ot_converted 일수 증가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4297680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4297680"/>
            <a:ext cx="21031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407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잔여 계산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754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잔여 = 부여 + 이월</a:t>
            </a:r>
            <a:br/>
            <a:r>
              <a:t>- 사용 - OT전환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0" y="4297680"/>
            <a:ext cx="2103120" cy="10972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01200" y="4297680"/>
            <a:ext cx="21031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0" y="4389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4407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재계산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38360" y="47548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Admin이 '연차 재계산'</a:t>
            </a:r>
            <a:br/>
            <a:r>
              <a:t>버튼으로 전체 재집계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669280"/>
            <a:ext cx="54864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연차 상세 보기 (LeaveDetailModal)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080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[보기] 버튼 클릭 시 모달 팝업으로 직원별 상세 표시 — 부여 근거, 사용 이력(날짜별), OT 전환 이력, 이월 내역을 한눈에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07  급여 처리 — 7단계 승인 워크플로우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급여기간 생성부터 최종 확정까지, 단계별로 진행하며 각 단계에서 상태가 전이됩니다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581912" cy="4572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82F6"/>
                </a:solidFill>
                <a:latin typeface="맑은 고딕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DRAFT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급여기간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연도/월 선택 후 급여기간을</a:t>
            </a:r>
            <a:br/>
            <a:r>
              <a:t>생성합니다. 연/월 중복 불가.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65960" y="1371600"/>
            <a:ext cx="158191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맑은 고딕"/>
              </a:defRPr>
            </a:pPr>
            <a: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사전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3911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(근태/OT 확인)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911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근태 입력 완료 확인</a:t>
            </a:r>
            <a:br/>
            <a:r>
              <a:t>OT 승인 완료 확인</a:t>
            </a:r>
            <a:br/>
            <a:r>
              <a:t>연차 사용 현황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0" y="1371600"/>
            <a:ext cx="158191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075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맑은 고딕"/>
              </a:defRPr>
            </a:pPr>
            <a: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CALCULATING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급여 계산 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VN/KR 법인에 따라</a:t>
            </a:r>
            <a:br/>
            <a:r>
              <a:t>자동 급여 계산 실행</a:t>
            </a:r>
            <a:br/>
            <a:r>
              <a:t>(보험·세금 포함)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1371600"/>
            <a:ext cx="1581912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2239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맑은 고딕"/>
              </a:defRPr>
            </a:pPr>
            <a: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CALCULATED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계산 완료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계산 결과 검토</a:t>
            </a:r>
            <a:br/>
            <a:r>
              <a:t>직원별 급여 상세 확인</a:t>
            </a:r>
            <a:br/>
            <a:r>
              <a:t>이상 시 DRAFT로 복귀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371600"/>
            <a:ext cx="1581912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맑은 고딕"/>
              </a:defRPr>
            </a:pPr>
            <a:r>
              <a:t>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PENDING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승인 제출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403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검토 완료 후</a:t>
            </a:r>
            <a:br/>
            <a:r>
              <a:t>승인을 위해 제출</a:t>
            </a:r>
            <a:br/>
            <a:r>
              <a:t>(Admin 수행)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732520" y="1371600"/>
            <a:ext cx="1581912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0567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맑은 고딕"/>
              </a:defRPr>
            </a:pPr>
            <a:r>
              <a:t>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L1 → L2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0567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2단계 승인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567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L1: Manager 승인</a:t>
            </a:r>
            <a:br/>
            <a:r>
              <a:t>L2: Admin 최종 승인</a:t>
            </a:r>
            <a:br/>
            <a:r>
              <a:t>반려 시 DRAFT로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24160" y="1371600"/>
            <a:ext cx="1581912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424160" y="1371600"/>
            <a:ext cx="1581912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97312" y="1463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맑은 고딕"/>
              </a:defRPr>
            </a:pPr>
            <a:r>
              <a:t>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35640" y="1463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4748B"/>
                </a:solidFill>
                <a:latin typeface="맑은 고딕"/>
              </a:defRPr>
            </a:pPr>
            <a:r>
              <a:t>FINALIZED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97312" y="17830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최종 확정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7312" y="210312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급여 확정 완료</a:t>
            </a:r>
            <a:br/>
            <a:r>
              <a:t>보고서 생성 가능</a:t>
            </a:r>
            <a:br/>
            <a:r>
              <a:t>(되돌리기 불가)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급여 관련 화면 구성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389120"/>
            <a:ext cx="3657600" cy="21945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4389120"/>
            <a:ext cx="54864" cy="219456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급여기간 목록 (PayrollListPage)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48006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급여기간(연/월) 목록 표시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상태별 필터링 (전체/DRAFT/FINALIZED 등)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상태 배지로 현재 단계 확인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클릭 → 급여 상세 화면으로 이동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389120"/>
            <a:ext cx="3657600" cy="21945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389120"/>
            <a:ext cx="54864" cy="2194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급여 상세 (PayrollDetailPage)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4840" y="48006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상단: 현재 상태 배지 + 액션 버튼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[계산 실행] [승인 제출] [L1 승인]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[L2 확정] [반려] (상태에 따라 표시)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하단: VN/KR 탭 전환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직원별 급여 상세 테이블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4389120"/>
            <a:ext cx="3657600" cy="219456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38160" y="4389120"/>
            <a:ext cx="54864" cy="2194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4480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반려(Reject) 처리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4800600"/>
            <a:ext cx="33832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L1 승인, L2 확정, 승인 제출 단계에서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반려 가능 → DRAFT 상태로 복귀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반려 사유 입력 후 다시 수정 가능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수정 완료 후 재계산 → 재제출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어떤 승인 단계에서든 반려 가능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08  급여 계산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베트남(VN) 급여 계산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5303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5303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① 기본급 (근무일수 비례)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실지급 기본급 = 기본급 × (실제근무일 / 표준근무일)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맑은 고딕"/>
              </a:defRPr>
            </a:pPr>
            <a:r>
              <a:t>② 수당 합산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총소득 = 실지급 기본급 + 식사비 + CSKH + 유류비 + 기타 + OT수당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③ 보험 (직원 부담)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사회보험 8% + 건강보험 1.5% + 실업보험 1% = 10.5%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④ 보험 (회사 부담)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질병 3% + 산재 0.5% + 퇴직 14% + 건강 3% + 실업 1% + 노조 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⑤ PIT (근로소득세)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과세소득 = 총소득 - 직원보험 - 본인공제 - 부양가족공제</a:t>
            </a:r>
            <a:br/>
            <a:r>
              <a:t>→ 누진세율 5%~35%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맑은 고딕"/>
              </a:defRPr>
            </a:pPr>
            <a:r>
              <a:t>⑥ 순급여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순급여 = 총소득 - 직원보험 - PIT + 상여금 + 조정금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맑은 고딕"/>
              </a:defRPr>
            </a:pPr>
            <a:r>
              <a:t>한국(KR) 급여 계산 구조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280160"/>
            <a:ext cx="5486400" cy="530352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54864" cy="5303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1417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맑은 고딕"/>
              </a:defRPr>
            </a:pPr>
            <a:r>
              <a:t>① 총지급액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기본급 + OT수당(연장/휴일/야간) + 연차수당 + 상여금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맑은 고딕"/>
              </a:defRPr>
            </a:pPr>
            <a:r>
              <a:t>② 비과세 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식대 + 자가운전보조금 + 보육수당 (법정 한도 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063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맑은 고딕"/>
              </a:defRPr>
            </a:pPr>
            <a:r>
              <a:t>③ 4대보험 (직원 부담)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337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국민연금: 과세×4.5%  |  건강보험: 과세×3.545%</a:t>
            </a:r>
            <a:br/>
            <a:r>
              <a:t>장기요양: 건강×12.81%  |  고용보험: 과세×0.9%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886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맑은 고딕"/>
              </a:defRPr>
            </a:pPr>
            <a:r>
              <a:t>④ 소득세 (간이세액표)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60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과세합계 + 부양자수 → 간이세액표 조회</a:t>
            </a:r>
            <a:br/>
            <a:r>
              <a:t>× 원천징수율 (80%/100%/120%)</a:t>
            </a:r>
            <a:br/>
            <a:r>
              <a:t>지방소득세 = 소득세 × 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맑은 고딕"/>
              </a:defRPr>
            </a:pPr>
            <a:r>
              <a:t>⑤ 연말정산 (해당 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83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추가납부 또는 환급 소득세/지방세 반영</a:t>
            </a:r>
            <a:br/>
            <a:r>
              <a:t>매년 1회, 특정 급여월에 적용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82F6"/>
                </a:solidFill>
                <a:latin typeface="맑은 고딕"/>
              </a:defRPr>
            </a:pPr>
            <a:r>
              <a:t>⑥ 실수령액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806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실수령 = 총지급액 - 4대보험 - 소득세 - 지방세</a:t>
            </a:r>
            <a:br/>
            <a:r>
              <a:t>- 연말정산 - 선급금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09  보고서 활용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급여 확정 후 다양한 보고서를 PDF/Excel로 다운로드할 수 있습니다 (보고서 화면: /hr/reports)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맑은 고딕"/>
              </a:defRPr>
            </a:pPr>
            <a:r>
              <a:t>베트남(VN) 보고서 — 5종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" cy="7772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급여명세서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맑은 고딕"/>
              </a:defRPr>
            </a:pPr>
            <a:r>
              <a:t>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직원별 상세 급여 내역</a:t>
            </a:r>
            <a:br/>
            <a:r>
              <a:t>기본급, 수당, 보험, PIT, 순급여 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급여대장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697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전체 직원 급여 요약 테이블</a:t>
            </a:r>
            <a:br/>
            <a:r>
              <a:t>법인 전체 급여 현황 일람표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6616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보험내역서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사업주/직원 부담 보험 상세</a:t>
            </a:r>
            <a:br/>
            <a:r>
              <a:t>SI·HI·UI 항목별 금액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PIT 보고서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526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세무신고용 근로소득세 내역</a:t>
            </a:r>
            <a:br/>
            <a:r>
              <a:t>직원별 과세소득, PIT 금액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직원 명부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440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전체 직원 마스터 데이터</a:t>
            </a:r>
            <a:br/>
            <a:r>
              <a:t>인적사항, 부서, 직책 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맑은 고딕"/>
              </a:defRPr>
            </a:pPr>
            <a:r>
              <a:t>한국(KR) 보고서 — 5종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7373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737360"/>
            <a:ext cx="54864" cy="77724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783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급여명세서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783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882F6"/>
                </a:solidFill>
                <a:latin typeface="맑은 고딕"/>
              </a:defRPr>
            </a:pPr>
            <a:r>
              <a:t>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057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한국 양식 급여명세서</a:t>
            </a:r>
            <a:br/>
            <a:r>
              <a:t>지급항목, 공제항목, 실수령액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6517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2651760"/>
            <a:ext cx="54864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697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급여대장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6974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2971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한국식 급여대장</a:t>
            </a:r>
            <a:br/>
            <a:r>
              <a:t>전체 직원 급여 일괄 조회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5661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566160"/>
            <a:ext cx="54864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4대보험 집계표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3611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8862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보험료 내역 집계</a:t>
            </a:r>
            <a:br/>
            <a:r>
              <a:t>국민연금·건강·장기요양·고용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4805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480560"/>
            <a:ext cx="54864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사업소득 지급대장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526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800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프리랜서 지급 내역</a:t>
            </a:r>
            <a:br/>
            <a:r>
              <a:t>총지급액, 세금, 실수령액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394960"/>
            <a:ext cx="5486400" cy="77724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39496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0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세무사 연동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0" y="54406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맑은 고딕"/>
              </a:defRPr>
            </a:pPr>
            <a:r>
              <a:t>Excel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715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세무대리인 제공용 데이터</a:t>
            </a:r>
            <a:br/>
            <a:r>
              <a:t>전산 매체 연동 형식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10  프리랜서 · 사업소득 · 연말정산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36576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프리랜서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프리랜서 등록: 이름, 주민번호(암호화), 국적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계약기간 및 계약금액 설정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월간 지급금액 설정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세율 설정 (기본 3.3%)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상태: ACTIVE / COMPLETED / TERMINATED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지급유형: BUSINESS_INCOME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목록: 검색, 상태 필터, 행 클릭→상세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822960"/>
            <a:ext cx="36576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822960"/>
            <a:ext cx="54864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사업소득 지급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2344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대상: 프리랜서별 월간 지급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입력 항목: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총지급액, 주휴수당, 인센티브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선급금, 학자금 공제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자동 계산: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소득세 = 총액 × 세율(3%)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지방소득세 = 소득세 × 10%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실수령 = 합계 - 공제합계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822960"/>
            <a:ext cx="3657600" cy="2926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822960"/>
            <a:ext cx="54864" cy="2926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연말정산 (KR 법인 전용)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234440"/>
            <a:ext cx="33832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매년 1회 연말정산 처리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직원별 추가납부/환급 소득세 등록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추가납부/환급 지방세 등록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반영: 특정 급여월에 적용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Excel 임포트 지원 (일괄 등록)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일괄 급여 반영 기능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상태: PENDING →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사업소득 지급 내역 구성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389120"/>
          <a:ext cx="68580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41148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총지급액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지급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기본 계약 금액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주휴수당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지급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주휴일 수당 (해당 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인센티브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지급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성과 인센티브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소득세 (3%)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사업소득세 = 합계 × 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지방소득세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소득세 × 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고용보험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산재보험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선급금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이미 지급한 금액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학자금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공제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학자금 상환 (해당 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실수령액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합계금액 - 공제합계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7240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연말정산 워크플로우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4389120"/>
            <a:ext cx="3931920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4389120"/>
            <a:ext cx="54864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연말정산 처리 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4800600"/>
            <a:ext cx="3657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① 세무사로부터 정산 결과 수령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② 시스템에 직원별 정산 금액 등록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 (또는 Excel 일괄 임포트)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③ 적용할 급여월 선택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④ '급여 반영' 버튼으로 해당 급여에 적용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⑤ 급여 계산 시 연말정산 금액 자동 반영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 (소득세/지방세에 가감)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11  HR 설정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HR 설정 화면(/hr/settings)에서 7개 탭으로 급여 계산에 필요한 파라미터를 관리합니다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" cy="246888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공휴일 달력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연도별 공휴일 등록/삭제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공휴일명 (한국어/베트남어)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근태 그리드에 H 코드로 자동 반영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표준근무일수 계산에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HolidayCalendarTab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46120" y="1280160"/>
            <a:ext cx="54864" cy="2468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OT 배수 설정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6916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5가지 OT 유형별 배수 확인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WEEKDAY_150: 150%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WEEKEND_200: 200%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HOLIDAY_300: 300%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OtRatesTab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VN 세금 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916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베트남 PIT 누진세율 구간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5% → 10% → 15% → 20%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→ 25% → 30% → 35%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구간별 과세소득 범위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TaxBracketsTab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2801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280160"/>
            <a:ext cx="54864" cy="24688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371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VN 지역 최저임금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916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REGION_1 ~ REGION_4 설정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보험 기준 상한 계산에 사용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insurance_base = min(기본급,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  최저임금 × 20)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1600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RegionalWagesTab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0233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023360"/>
            <a:ext cx="54864" cy="24688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VN 보험요율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4348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사업주/직원 부담 보험요율 설정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SI: 사회보험 (회사17.5% + 직원8%)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HI: 건강보험 (회사3% + 직원1.5%)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UI: 실업보험 (회사1% + 직원1%)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InsuranceRatesTab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40233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4023360"/>
            <a:ext cx="54864" cy="24688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KR 4대보험 요율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4348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국민연금: 요율, 상한, 하한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건강보험: 요율, 직원부담률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장기요양: 건강보험 대비 비율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고용보험: 요율, 직원부담률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유효기간으로 버전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KrInsuranceParamsTab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023360"/>
            <a:ext cx="2834640" cy="2468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023360"/>
            <a:ext cx="54864" cy="24688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KR 간이세액표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34840"/>
            <a:ext cx="2560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연도별 간이세액표 관리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CSV 파일로 일괄 임포트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급여구간 × 부양자수 → 세액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원천징수율 (80/100/120%)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맑은 고딕"/>
              </a:defRPr>
            </a:pPr>
            <a:r>
              <a:t>KrTaxTableTab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12  권한 및 역할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맑은 고딕"/>
              </a:defRPr>
            </a:pPr>
            <a:r>
              <a:t>역할에 따라 접근 가능한 기능이 다릅니다. 아래 표를 참고하세요.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566160" cy="3200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" cy="3200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Admin (관리자)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2918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직원/프리랜서 등록·수정·삭제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급여기간 생성·계산·제출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L2 최종 승인 (급여 확정)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보고서 다운로드 (PDF/Excel)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HR 설정 관리 (공휴일, 보험요율 등)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생성·수정, 사용자 역할 배정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연말정산 등록·급여 반영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시스템 전체 관리 권한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3200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54864" cy="3200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Manager (관리자급)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2918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L1 승인 (1차 승인)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반려 (사유 기재)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초과근무(OT) 승인/반려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직원·급여 데이터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보고서 조회 (다운로드는 Admin만)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승인 및 검토 권한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566160" cy="32004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54864" cy="320040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71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일반 사용자 (ALL)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691640"/>
            <a:ext cx="32918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 목록·상세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급여기간 목록·상세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근태 현황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연차 현황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공휴일 목록 조회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정보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맑은 고딕"/>
              </a:defRPr>
            </a:pPr>
            <a:r>
              <a:t>조회 중심 권한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54880"/>
            <a:ext cx="5486400" cy="1828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754880"/>
            <a:ext cx="54864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46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법인별 데이터 격리 (EntityGuard)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663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모든 데이터는 법인(Entity) 단위로 완전 격리됩니다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A법인 관리자가 B법인 직원 데이터를 볼 수 없습니다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사용자에게 할당된 법인의 데이터만 접근 가능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프리랜서, 사업소득, 연말정산, KR 설정 등에 적용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사용자 역할: Admin이 '법인 관리'에서 배정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754880"/>
            <a:ext cx="5486400" cy="18288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754880"/>
            <a:ext cx="54864" cy="1828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민감 데이터 보호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16636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주민등록번호: 암호화 저장 (일반 사용자 열람 불가)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급여 데이터: Admin 권한 필요 (조회는 ALL)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보고서 다운로드: Admin 권한 필수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법인 도장 이미지: 업로드/삭제는 Admin만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비밀번호·개인정보는 별도 보안 체계 적용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82F6"/>
                </a:solidFill>
                <a:latin typeface="맑은 고딕"/>
              </a:defRPr>
            </a:pPr>
            <a:r>
              <a:t>부록  퇴직금 시뮬레이션 &amp; 자주 묻는 질문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00" cy="22860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54864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퇴직금 시뮬레이션 (SeverancePage)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직원 선택 → '퇴직금 계산' 버튼 클릭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입사일, 퇴사 예정일 기반 근속기간 계산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최근 급여 이력 기반 퇴직금 산출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시뮬레이션 결과 확인 (확정 전 미리보기)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'퇴직금 확정' 버튼으로 최종 처리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000">
                <a:solidFill>
                  <a:srgbClr val="94A3B8"/>
                </a:solidFill>
                <a:latin typeface="맑은 고딕"/>
              </a:defRPr>
            </a:pPr>
            <a:r>
              <a:t>  •  확정 후 급여에 반영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822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VN vs KR 급여 체계 비교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188720"/>
          <a:ext cx="548640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011680"/>
                <a:gridCol w="21031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베트남 (VN)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한국 (KR)</a:t>
                      </a:r>
                    </a:p>
                  </a:txBody>
                  <a:tcPr>
                    <a:solidFill>
                      <a:srgbClr val="3882F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통화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VND + USD 병기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KRW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급여 유형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GROSS / NET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GROSS 고정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보험 체계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SI + HI +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4대보험 (연금/건강/장기요양/고용)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세금 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PIT 누진세율 (5~35%)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간이세액표 조회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지역 구분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REGION_1~4 (최저임금)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없음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부양가족 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1인당 4,400,000 VND/월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간이세액표 부양자수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원천징수율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없음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80% / 100% / 120%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비과세 항목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식대, 자가운전, 보육수당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연말정산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해당 없음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매년 1회 추가납부/환급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근무형태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주5일(MON_FRI) / 주6일(MON_SAT)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  <a:latin typeface="맑은 고딕"/>
                        </a:defRPr>
                      </a:pPr>
                      <a:r>
                        <a:t>주5일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3383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자주 묻는 질문 (FAQ)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11247120" cy="640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4864" cy="640080"/>
          </a:xfrm>
          <a:prstGeom prst="rect">
            <a:avLst/>
          </a:prstGeom>
          <a:solidFill>
            <a:srgbClr val="38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7647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Q. 급여 계산 결과가 이상한데 어떻게 하나요?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5079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A. 급여가 FINALIZED 전이면 반려 후 DRAFT로 돌린 뒤 근태/OT/설정을 확인하고 재계산하세요.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80559"/>
            <a:ext cx="11247120" cy="640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480559"/>
            <a:ext cx="54864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0799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Q. 신규 직원의 급여가 계산되지 않아요.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8231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A. 직원 등록 후 반드시 '급여이력' 탭에서 기본급을 등록해야 급여 계산에 포함됩니다.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79"/>
            <a:ext cx="11247120" cy="640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3951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Q. 한국 직원인데 4대보험이 계산되지 않아요.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1383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A. KR 정보 탭에서 보험 면제 설정을 확인하고, 설정 → KR 4대보험 요율이 등록되어 있는지 확인하세요.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599"/>
            <a:ext cx="11247120" cy="6400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943599"/>
            <a:ext cx="54864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97103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Q. 프리랜서 사업소득 세율을 바꾸고 싶어요.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245351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맑은 고딕"/>
              </a:defRPr>
            </a:pPr>
            <a:r>
              <a:t>A. 프리랜서 상세 화면에서 세율(기본 3%)을 변경할 수 있습니다. 변경 후 미래 지급분부터 적용됩니다.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882F6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맑은 고딕"/>
              </a:defRPr>
            </a:pPr>
            <a:r>
              <a:t>AMB Management — 인사관리(HR) 시스템 사용자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맑은 고딕"/>
              </a:defRPr>
            </a:pPr>
            <a:r>
              <a:t>다국가 통합 인사 · 급여 · 근태 관리  |  VN + KR  |  3개 국어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DB 테이블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API 엔드포인트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화면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39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보고서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급여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572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82F6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46634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맑은 고딕"/>
              </a:defRPr>
            </a:pPr>
            <a:r>
              <a:t>지원 언어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맑은 고딕"/>
              </a:defRPr>
            </a:pPr>
            <a:r>
              <a:t>v1.0  |  2026-02-18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